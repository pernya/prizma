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ff733aedbc4e48" /><Relationship Type="http://schemas.openxmlformats.org/officeDocument/2006/relationships/extended-properties" Target="/docProps/app.xml" Id="Rf8472ed3fb9a435c" /><Relationship Type="http://schemas.openxmlformats.org/officeDocument/2006/relationships/officeDocument" Target="/ppt/presentation.xml" Id="Re2688837fb08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7334f8ba554bb7"/>
  </p:sldMasterIdLst>
  <p:notesMasterIdLst>
    <p:notesMasterId xmlns:r="http://schemas.openxmlformats.org/officeDocument/2006/relationships" r:id="R184f9552d5ab4fe1"/>
  </p:notesMasterIdLst>
  <p:sldIdLst>
    <p:sldId xmlns:r="http://schemas.openxmlformats.org/officeDocument/2006/relationships" id="256" r:id="R17fbbdb64e35400a"/>
    <p:sldId xmlns:r="http://schemas.openxmlformats.org/officeDocument/2006/relationships" id="257" r:id="Rff584b1fb28b48b7"/>
    <p:sldId xmlns:r="http://schemas.openxmlformats.org/officeDocument/2006/relationships" id="258" r:id="R3d8ffd87b9ba42ad"/>
    <p:sldId xmlns:r="http://schemas.openxmlformats.org/officeDocument/2006/relationships" id="259" r:id="Rdb56fb857bf64d78"/>
    <p:sldId xmlns:r="http://schemas.openxmlformats.org/officeDocument/2006/relationships" id="260" r:id="R5e46f717e6d04439"/>
    <p:sldId xmlns:r="http://schemas.openxmlformats.org/officeDocument/2006/relationships" id="261" r:id="R6511c5d72a0549c5"/>
    <p:sldId xmlns:r="http://schemas.openxmlformats.org/officeDocument/2006/relationships" id="262" r:id="Rc5ff6ffcf51942ab"/>
    <p:sldId xmlns:r="http://schemas.openxmlformats.org/officeDocument/2006/relationships" id="263" r:id="R0d03f010815045f9"/>
    <p:sldId xmlns:r="http://schemas.openxmlformats.org/officeDocument/2006/relationships" id="264" r:id="Rc379a930c9db40c1"/>
    <p:sldId xmlns:r="http://schemas.openxmlformats.org/officeDocument/2006/relationships" id="265" r:id="R743391ee66fa4126"/>
    <p:sldId xmlns:r="http://schemas.openxmlformats.org/officeDocument/2006/relationships" id="266" r:id="R9bfb4b087cf547a3"/>
    <p:sldId xmlns:r="http://schemas.openxmlformats.org/officeDocument/2006/relationships" id="267" r:id="R98af71586b374afd"/>
    <p:sldId xmlns:r="http://schemas.openxmlformats.org/officeDocument/2006/relationships" id="268" r:id="R3c09e11e11ee4f21"/>
    <p:sldId xmlns:r="http://schemas.openxmlformats.org/officeDocument/2006/relationships" id="269" r:id="R8290ff545e8840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334f8ba554bb7" /><Relationship Type="http://schemas.openxmlformats.org/officeDocument/2006/relationships/theme" Target="/ppt/theme/theme1.xml" Id="Rf64318ca2bd1475a" /><Relationship Type="http://schemas.openxmlformats.org/officeDocument/2006/relationships/notesMaster" Target="/ppt/notesMasters/notesMaster1.xml" Id="R184f9552d5ab4fe1" /><Relationship Type="http://schemas.openxmlformats.org/officeDocument/2006/relationships/presProps" Target="/ppt/presProps.xml" Id="R2711b2cb69424b2e" /><Relationship Type="http://schemas.openxmlformats.org/officeDocument/2006/relationships/viewProps" Target="/ppt/viewProps.xml" Id="Rfe23d8cf77c84186" /><Relationship Type="http://schemas.openxmlformats.org/officeDocument/2006/relationships/tableStyles" Target="/ppt/tableStyles.xml" Id="R5552e7c20ae04225" /><Relationship Type="http://schemas.openxmlformats.org/officeDocument/2006/relationships/slide" Target="/ppt/slides/slide1.xml" Id="R17fbbdb64e35400a" /><Relationship Type="http://schemas.openxmlformats.org/officeDocument/2006/relationships/slide" Target="/ppt/slides/slide2.xml" Id="Rff584b1fb28b48b7" /><Relationship Type="http://schemas.openxmlformats.org/officeDocument/2006/relationships/slide" Target="/ppt/slides/slide3.xml" Id="R3d8ffd87b9ba42ad" /><Relationship Type="http://schemas.openxmlformats.org/officeDocument/2006/relationships/slide" Target="/ppt/slides/slide4.xml" Id="Rdb56fb857bf64d78" /><Relationship Type="http://schemas.openxmlformats.org/officeDocument/2006/relationships/slide" Target="/ppt/slides/slide5.xml" Id="R5e46f717e6d04439" /><Relationship Type="http://schemas.openxmlformats.org/officeDocument/2006/relationships/slide" Target="/ppt/slides/slide6.xml" Id="R6511c5d72a0549c5" /><Relationship Type="http://schemas.openxmlformats.org/officeDocument/2006/relationships/slide" Target="/ppt/slides/slide7.xml" Id="Rc5ff6ffcf51942ab" /><Relationship Type="http://schemas.openxmlformats.org/officeDocument/2006/relationships/slide" Target="/ppt/slides/slide8.xml" Id="R0d03f010815045f9" /><Relationship Type="http://schemas.openxmlformats.org/officeDocument/2006/relationships/slide" Target="/ppt/slides/slide9.xml" Id="Rc379a930c9db40c1" /><Relationship Type="http://schemas.openxmlformats.org/officeDocument/2006/relationships/slide" Target="/ppt/slides/slide10.xml" Id="R743391ee66fa4126" /><Relationship Type="http://schemas.openxmlformats.org/officeDocument/2006/relationships/slide" Target="/ppt/slides/slide11.xml" Id="R9bfb4b087cf547a3" /><Relationship Type="http://schemas.openxmlformats.org/officeDocument/2006/relationships/slide" Target="/ppt/slides/slide12.xml" Id="R98af71586b374afd" /><Relationship Type="http://schemas.openxmlformats.org/officeDocument/2006/relationships/slide" Target="/ppt/slides/slide13.xml" Id="R3c09e11e11ee4f21" /><Relationship Type="http://schemas.openxmlformats.org/officeDocument/2006/relationships/slide" Target="/ppt/slides/slide14.xml" Id="R8290ff545e88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f3c654f8da34f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e0af0cb7484977" /><Relationship Type="http://schemas.openxmlformats.org/officeDocument/2006/relationships/notesMaster" Target="/ppt/notesMasters/notesMaster1.xml" Id="R649c649572bb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603c481ee245cf" /><Relationship Type="http://schemas.openxmlformats.org/officeDocument/2006/relationships/notesMaster" Target="/ppt/notesMasters/notesMaster1.xml" Id="Rffa51620d12d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9ee7f66c724469" /><Relationship Type="http://schemas.openxmlformats.org/officeDocument/2006/relationships/notesMaster" Target="/ppt/notesMasters/notesMaster1.xml" Id="Rf5a4b0bc7baf49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9256e77724e15" /><Relationship Type="http://schemas.openxmlformats.org/officeDocument/2006/relationships/notesMaster" Target="/ppt/notesMasters/notesMaster1.xml" Id="Rce56d2ec1c5e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3a2cc6ce243ba" /><Relationship Type="http://schemas.openxmlformats.org/officeDocument/2006/relationships/notesMaster" Target="/ppt/notesMasters/notesMaster1.xml" Id="R75a92a120292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e9842554cf4ef4" /><Relationship Type="http://schemas.openxmlformats.org/officeDocument/2006/relationships/notesMaster" Target="/ppt/notesMasters/notesMaster1.xml" Id="R806f13f5d94b43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696dc8da6647fe" /><Relationship Type="http://schemas.openxmlformats.org/officeDocument/2006/relationships/notesMaster" Target="/ppt/notesMasters/notesMaster1.xml" Id="R7d8eeb75448045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a464c16ddd4231" /><Relationship Type="http://schemas.openxmlformats.org/officeDocument/2006/relationships/notesMaster" Target="/ppt/notesMasters/notesMaster1.xml" Id="Ra05bf6a6c49547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e9dfadc6bd41e3" /><Relationship Type="http://schemas.openxmlformats.org/officeDocument/2006/relationships/notesMaster" Target="/ppt/notesMasters/notesMaster1.xml" Id="R4749b4a3d63241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92218c2df841f4" /><Relationship Type="http://schemas.openxmlformats.org/officeDocument/2006/relationships/notesMaster" Target="/ppt/notesMasters/notesMaster1.xml" Id="R33c00ab8634e4b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4e3f8644e64eb1" /><Relationship Type="http://schemas.openxmlformats.org/officeDocument/2006/relationships/notesMaster" Target="/ppt/notesMasters/notesMaster1.xml" Id="R6988ccbec65e43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26a3c052804757" /><Relationship Type="http://schemas.openxmlformats.org/officeDocument/2006/relationships/notesMaster" Target="/ppt/notesMasters/notesMaster1.xml" Id="R900f5174dc2b46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0262805e574b9f" /><Relationship Type="http://schemas.openxmlformats.org/officeDocument/2006/relationships/notesMaster" Target="/ppt/notesMasters/notesMaster1.xml" Id="R80c79030fd574b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33406892e24e20" /><Relationship Type="http://schemas.openxmlformats.org/officeDocument/2006/relationships/notesMaster" Target="/ppt/notesMasters/notesMaster1.xml" Id="Re4e21d28f0d645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c8bfe553284b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c0d93b0e619421a" /><Relationship Type="http://schemas.openxmlformats.org/officeDocument/2006/relationships/slideLayout" Target="/ppt/slideLayouts/slideLayout2.xml" Id="R7f0cfa582513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0cfa582513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e020b28834516" /><Relationship Type="http://schemas.openxmlformats.org/officeDocument/2006/relationships/notesSlide" Target="/ppt/notesSlides/notesSlide1.xml" Id="Rb59d43e8cc874c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8eec15be3c4d72" /><Relationship Type="http://schemas.openxmlformats.org/officeDocument/2006/relationships/notesSlide" Target="/ppt/notesSlides/notesSlide2.xml" Id="R11d2947cf03d49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cc8a8fdf7f4917" /><Relationship Type="http://schemas.openxmlformats.org/officeDocument/2006/relationships/notesSlide" Target="/ppt/notesSlides/notesSlide3.xml" Id="Rfb75db427e3242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728d40266434b" /><Relationship Type="http://schemas.openxmlformats.org/officeDocument/2006/relationships/notesSlide" Target="/ppt/notesSlides/notesSlide4.xml" Id="R5a395803982b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31025ae1534de5" /><Relationship Type="http://schemas.openxmlformats.org/officeDocument/2006/relationships/notesSlide" Target="/ppt/notesSlides/notesSlide5.xml" Id="R99a3377a4c6e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b215d122047d2" /><Relationship Type="http://schemas.openxmlformats.org/officeDocument/2006/relationships/notesSlide" Target="/ppt/notesSlides/notesSlide6.xml" Id="R9428a0fddd994c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21d7d7a164a08" /><Relationship Type="http://schemas.openxmlformats.org/officeDocument/2006/relationships/notesSlide" Target="/ppt/notesSlides/notesSlide7.xml" Id="Rcdc2839e76d84e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c93be1c9804a6a" /><Relationship Type="http://schemas.openxmlformats.org/officeDocument/2006/relationships/notesSlide" Target="/ppt/notesSlides/notesSlide8.xml" Id="Rd951f22362d54e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c793a6d8734795" /><Relationship Type="http://schemas.openxmlformats.org/officeDocument/2006/relationships/notesSlide" Target="/ppt/notesSlides/notesSlide9.xml" Id="R7a0079121bbf4a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1d7e4732bb42ce" /><Relationship Type="http://schemas.openxmlformats.org/officeDocument/2006/relationships/notesSlide" Target="/ppt/notesSlides/notesSlide10.xml" Id="Rb6f0d25f7cef48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e7e987a6cb4dda" /><Relationship Type="http://schemas.openxmlformats.org/officeDocument/2006/relationships/notesSlide" Target="/ppt/notesSlides/notesSlide11.xml" Id="R06bd1529a3de4e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087902f7f48c6" /><Relationship Type="http://schemas.openxmlformats.org/officeDocument/2006/relationships/notesSlide" Target="/ppt/notesSlides/notesSlide12.xml" Id="R78344003de0d4e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342a686d544b35" /><Relationship Type="http://schemas.openxmlformats.org/officeDocument/2006/relationships/notesSlide" Target="/ppt/notesSlides/notesSlide13.xml" Id="R8551a114407044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85926b0ed46bb" /><Relationship Type="http://schemas.openxmlformats.org/officeDocument/2006/relationships/notesSlide" Target="/ppt/notesSlides/notesSlide14.xml" Id="Rf910f1c1c50041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85C09-3520-4242-BEEC-2F70FAEA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B8698-6A89-4C36-8AB7-78F6E85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C05BD-9790-48A8-92AB-03F500D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624FC-D380-47B1-8F77-2CF77D4F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защита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16278-761B-4744-A4F4-C4D01758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8760C-A8F4-4369-BAB6-21F2D0B6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A28F1-8359-4480-AA85-D064F555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E7ADE-923B-4CA5-9211-1CD9EA5F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PRIZMA / КОМАНДА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ABA05-67AE-49C5-AD12-8E7A740B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Платформа стилизации изображений: от MVP до production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8E238-52B6-48A2-BD81-701A6246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657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Групповая академическая работа: backend, MLOps, CI/CD, Kubernetes, observability и SRE-артефакты в едином репозитории.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C41CC-387B-4D4B-B1CF-25D3DB6E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0">
            <a:solidFill>
              <a:srgbClr val="DCE6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B2D39-82DA-4A5B-94B6-EA6121D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FastAPI +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D4CAC-0959-4C8B-A4B8-B28F8F16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90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0">
            <a:solidFill>
              <a:srgbClr val="DCE6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884FA-73DC-4D78-93B7-47F2C6B7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290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RabbitMQ + MinIO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57262-E66F-4662-AA61-595BF1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0">
            <a:solidFill>
              <a:srgbClr val="DCE6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9E7EC-589A-4DB2-9C1D-68AB7062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Triton-ready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A0135-4BF2-4803-A193-F306B460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909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D9"/>
          </a:solidFill>
          <a:ln xmlns:a="http://schemas.openxmlformats.org/drawingml/2006/main" w="0">
            <a:solidFill>
              <a:srgbClr val="DCE6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0BCB0-8E71-4C0F-B371-F09660A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290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9525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GitHub 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45AF0-1E06-43BF-B685-7A4BAE2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B6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B63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8729F-B83A-409D-8A9A-49D0539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требование из отчета отражено в матрице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E98D5-3F2F-41F3-AB8D-96817D7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6B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66B47"/>
                </a:solidFill>
                <a:latin typeface="Aptos Display"/>
                <a:ea typeface="Aptos Display"/>
                <a:cs typeface="Aptos Display"/>
              </a:rPr>
              <a:t>112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D200E-BE36-456A-BB06-9175078C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Kubernetes resources проходят 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04E0D-E4F8-4E15-A84C-9BF938F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62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C7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15C7C"/>
                </a:solidFill>
                <a:latin typeface="Aptos Display"/>
                <a:ea typeface="Aptos Display"/>
                <a:cs typeface="Aptos Display"/>
              </a:rPr>
              <a:t>8/8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16BA44-F4D3-4BF4-806F-D719B93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9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локальных тестов проходят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807F0-F7AC-4773-88B4-00345E30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19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6D9"/>
                </a:solidFill>
                <a:latin typeface="Aptos"/>
                <a:ea typeface="Aptos"/>
                <a:cs typeface="Aptos"/>
              </a:rPr>
              <a:t>Цель защиты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8FFE3-0D6C-4620-9A57-94169845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001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Показать не макет, а инженерный контур: код, деплой, проверки, SLO и воспроизводимые артефакты.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2A29D-A9C3-4670-9148-7BA4FEE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33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64DBA-BBFC-4F29-8EF3-0E969A8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D9"/>
                </a:solidFill>
                <a:latin typeface="Aptos"/>
                <a:ea typeface="Aptos"/>
                <a:cs typeface="Aptos"/>
              </a:rPr>
              <a:t>Домен: prizma.pernyaev.ru</a:t>
            </a:r>
          </a:p>
          <a:p xmlns:a="http://schemas.openxmlformats.org/drawingml/2006/main">
            <a:pPr algn="l">
              <a:defRPr sz="1050" b="0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D9"/>
                </a:solidFill>
                <a:latin typeface="Aptos"/>
                <a:ea typeface="Aptos"/>
                <a:cs typeface="Aptos"/>
              </a:rPr>
              <a:t>Backend upstream: api.pernyaev.ru</a:t>
            </a:r>
          </a:p>
          <a:p xmlns:a="http://schemas.openxmlformats.org/drawingml/2006/main">
            <a:pPr algn="l">
              <a:defRPr sz="1050" b="0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D9"/>
                </a:solidFill>
                <a:latin typeface="Aptos"/>
                <a:ea typeface="Aptos"/>
                <a:cs typeface="Aptos"/>
              </a:rPr>
              <a:t>Репозиторий: github.com/Pernya/prizma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733D1-71F1-46AD-8216-1E80353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27518-18FA-4581-8B36-C3A88F6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6346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1ED818-2883-4376-82A4-0AC315D6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CB4F6-047C-45C0-98A8-C9529441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256B-B758-4470-BF86-BCEACFD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0DA11-4414-47AE-9ADC-F22C14A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постановка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19059-BD91-4928-A5DD-641AA106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B2EB7-9E50-47E3-9666-884C25E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ЗАДАЧА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E9432-B113-44E7-B317-BDC13F6E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Документ требовал не только приложение, а полный инженерный контур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86732-934D-4678-A2BB-E735F197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Мы превратили отчетные требования в проверяемые артефакты: код, pipeline, SRE-документы, Kubernetes-манифесты и публичный стенд.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D5C7F-85E0-457A-8D6D-ECD27DCE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FADA7-0EB3-4596-AAC7-AAAF8E3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1. Пользовательский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62032-9FBF-4A18-8725-E9AD2F7B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2171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Загрузка изображения, выбор стиля, создание задачи, статус, результат, скачивание и share/copy fallback.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68A99-DD01-4229-8539-BDE21041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81350"/>
            <a:ext cx="4953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2B218-516D-42FE-8E25-6A8BCF4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384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F4359-7E4F-4FC9-9A38-75935621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355C7-C093-4DCB-BA3D-640059F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146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2. Platform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8AC70-CC07-4B51-818A-89C2E28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09875"/>
            <a:ext cx="2266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FastAPI, worker, RabbitMQ, MinIO, Triton-compatible inference, Prometheus/Grafana.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10B30-B35B-48F6-A76B-47318A4B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4953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FBC24-F959-42CA-B4D6-AE86224D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384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31E24-85BC-4576-994E-BC859060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32224-AD56-4975-A7D1-C5D17FB6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146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3. Governance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6C5B5-FC67-45BD-A014-4654AA30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9875"/>
            <a:ext cx="2552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CI/CD, OpenAPI contract, MLOps gates, security scans, SLO/error budget и rollback runbooks.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29403-8E5C-4D31-B33B-E63552CA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772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81F73-9FA6-4FE8-97F7-9F40867E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Ключевой принцип: каждый тезис защиты должен иметь proof object в репозитории или в публичном стенде.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7B198-B7C3-4AC4-A58F-9822BA4B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4E35B-C9E8-4483-8E07-2C40DAE0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92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2A3A5C-EE8B-42A9-8EEB-829D8E1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52CF-59EF-4EB8-9F0F-2D7BAB70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E9D34-D96E-4AD7-9DF7-314B455A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0050C-453B-4C82-924F-E1F343D1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покрытие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F5356-F7F2-4D12-ACAE-BDA9E98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C7F76-7E39-4008-BAD9-C536554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МАТРИЦА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5D9A8-A820-4DC9-B12F-68C88532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Большая часть требований закрыта кодом, манифестами и проверками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CE115-5FFE-4CFF-AC27-EE9919FA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B6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B63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CB99D-5C2E-45A8-BC68-A36875A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полностью покрыто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F0EDE-80ED-4242-B3AE-7DFA871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14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21840-818C-4833-B28C-BCF7301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покрыто как манифесты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75CE2-D965-4C8D-A4FF-BF85000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14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6B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66B4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74D35-F703-460B-81A1-3733C205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71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частично покрыто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A7F09-F535-4EE6-8E52-4169E371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3B2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A33B2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B1709-8CC7-4F2B-8929-784F4CC8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не покрыто: нативный mobile release/signing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08A81-B69E-41B7-8B60-7E3B75E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A180D-B1D5-4AB1-A366-EBF7533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Область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FB185-5ACB-45B8-A917-CB06E2F2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0DE55-86C3-4581-AF05-8CA005A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Статус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928DD-8A10-4EB6-8B1F-20E832CC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4763">
            <a:solidFill>
              <a:srgbClr val="CAD5C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5ECEA-E73E-40F1-8A1E-CDEF18A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Backend/API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C26A9-9DBE-4763-A721-1D934BD4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FastAPI, jobs lifecycle, OpenAPI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24034-EE99-4995-A230-2F65E7C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62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Покрыто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03BC8-41B8-4A96-B1B6-82D4CE41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4763">
            <a:solidFill>
              <a:srgbClr val="CAD5C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8D5D9-CF24-4E23-9524-5E3FE4BC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Queue/Storage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AA3F4-9A24-4406-8688-0730143F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RabbitMQ, MinIO/S3, 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B042F-C2C1-4CE7-9B20-ED524674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Покрыто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7BB51-7879-41BF-A2B6-E7A97E2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4763">
            <a:solidFill>
              <a:srgbClr val="CAD5C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CAE9C1-4B75-4FF8-A80F-DF51709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A8E64-38DE-4D54-A8F8-E75284D8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dataset validation, benchmark, drift, model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125CF3-76A7-4DF0-A44B-F828C66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Покрыто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56F2F0-0334-4B8F-965C-07EF8E76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4763">
            <a:solidFill>
              <a:srgbClr val="CAD5C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B8D140-0D82-4CD3-801A-27AF275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BDF58B-8877-4BB0-9CDA-5577BE3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Helm, values, HPA, ServiceMonitor, ExternalSecret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F55F17-5023-4C09-B8A9-8FF9B453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76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Покрыто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017E1A-F3EB-4F1F-9F27-2A0B328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4763">
            <a:solidFill>
              <a:srgbClr val="CAD5C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59BA65-1C0F-414E-B002-99B628EE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SRE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0600AC-7AA1-401D-8558-AF339E8E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SLI/SLO/SLA, error budget, alerts, runbooks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D11EAA-5521-4695-B9E6-69C8F17E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14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Покрыто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0AE57F-083B-4618-85F5-74D5D3EA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4763">
            <a:solidFill>
              <a:srgbClr val="CAD5C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4DDCA8-485D-419A-827A-247C2C26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53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GPU inference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11EBCF-2B2F-427A-ACBF-A94AC62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53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Triton scaffold без production GPU модели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26BF8D-F30B-4CD1-8464-BBEF9EB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53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B66B4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B66B47"/>
                </a:solidFill>
                <a:latin typeface="Aptos"/>
                <a:ea typeface="Aptos"/>
                <a:cs typeface="Aptos"/>
              </a:rPr>
              <a:t>Частично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FDF702-B768-4464-84B8-C8530B29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D35064-B4EF-4B36-B9AE-2002F01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44388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A9EAD-C6BE-4843-853C-9847C82A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F66C-DDC1-4202-8532-FAB27751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FAC6A-413A-4469-AADD-9435ECEC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BA7DB-961E-45A8-992B-7820B142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30272-8548-4C56-A874-4F02A2C8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58199-9617-4915-8459-5A4CF89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DA7D3-7BCB-496D-9EEF-C2AB967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Публичный frontend отделен от локального backend-контура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2C51B-11C6-4043-9733-36249A3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Текущий режим экономит инфраструктурные ресурсы: VPS принимает интернет-трафик, а тяжелые операции и backend могут оставаться на Mac через Cloudflare Tunnel.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7AA70-8F57-429C-8C8B-FDBCE1F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8CD73-5E1B-43B0-BEC6-E2650821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D1B5C-5DB8-462B-A6BB-AC6E257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Браузер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CAF5A-3DCA-4D35-9C94-C860F38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prizma.pernyaev.ru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HTML/JS/CSS/PWA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099DF-7A3C-4C4E-BFFA-7605784E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1B13F-06FE-4216-8F17-BD747689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840AE-E41B-491B-A65C-ED172DCB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050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VPS nginx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6EBAF-750A-4EBB-916E-935A81E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71775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Docker Compose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static frontend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/api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C67A3-7E85-4424-89DC-AE2A370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3362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B9B77-851E-4137-A152-EE0E5C2F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3362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519B0-0539-43C3-9D19-2AFD578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05075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Cloudflare Tunnel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53AA5-2B26-4408-BFA0-14927813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7177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api.pernyaev.ru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защищенный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D44E5-D489-4041-B805-FD48D1F7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E59AE-5A2D-4F56-95F9-6D3D3AE9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E8589-8C35-4769-BDF2-07F85B0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Mac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FBC57-3C56-47ED-81C1-5B8D2512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71775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jobs API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07320-A60D-4E87-8B9B-B84A4D0E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38450"/>
            <a:ext cx="1905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CB4DF-576D-46F0-8415-6D568FBB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955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00ECB-84FC-44FA-BEBA-D766A24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2476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3FEB8-C6EE-40CE-BF5A-6A49668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B06D0-E481-4A06-8D70-84BF4619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38450"/>
            <a:ext cx="2095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D4DD7-48C9-4D89-93F5-6B31BF58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955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77D40E-7440-4C03-BBC1-349D106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67BF3F-8740-49A8-AFBC-86CF335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6F40F-14C4-4B18-9A9E-C0F07CB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14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D53EE1-9854-4B10-9FD2-29A6D83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81550"/>
            <a:ext cx="1257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очередь задач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broker mode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EB38EF-9573-4C98-8428-7A292828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43400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2FA4EE-CA18-4CFA-A55E-9D1BFC21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434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6CF75-7E07-47FB-A377-FBF70CB9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MinIO/S3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F7216A-09AD-4C24-9D8B-95A5FB9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1257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input/output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artifact storage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1D1191-5904-4D5E-92F1-6AE7215E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524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86FAF5-D613-4C7B-B9A9-97DADE8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1310C3-F8ED-465B-9CA5-D951B9CA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Triton-ready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6FCF14-396A-42BF-AB52-E7CB467E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81550"/>
            <a:ext cx="1257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HTTP client</a:t>
            </a:r>
          </a:p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GPU contour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9D0D08-8822-418B-A56D-E4BD5B9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9BDF34-4FD8-43EB-AA33-A12B550E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worker/inference contour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BE9F03-3B9D-4432-AE8E-3AD18A97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85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20BFB9-21E3-446B-8AE8-C2EF99E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857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7FF898-63D6-4B57-923C-6DE5FFED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3590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Managed Kubernetes target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D610B5-D1C0-4250-9A36-DF5BB2A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35909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Helm values-dev/prod/eks/regcloud, HPA, ServiceMonitor, ExternalSecret, Argo Rollouts и Argo CD manifests.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3E6ED4-91B6-42EB-B6EF-7EF3F3A9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6473AB-48BD-469D-8893-03A3DF93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14163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30DA0-5F8B-4EBF-BA1B-A035B24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B083D-8D25-4682-AE73-6EA970B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0E7F0-E244-4D71-92C0-E36FB656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19B9C-433A-463B-8BFE-E3ABA994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пользовательский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74A17-ABFA-4863-B462-ADC12D3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90326-6CC2-403A-9F66-145D74F1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5BBE5-8862-4D6C-8DC8-0A6DF4D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Путь пользователя реализован как job-based обработка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B57C2-418F-4025-AD43-D97E9613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3590-B26F-44CF-A119-B9298BB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DDA14-E827-4996-959A-3EA84FC6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Загрузка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089EC-6B1B-4965-8466-DEC341EE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85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PNG/JPEG/WebP до лимита, client-side resize для больших изображений.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9B1A5-3A49-4674-8E18-CC1DC9D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609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F22A7-5F84-4E5D-A145-40DBCBF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05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7DB96-D23B-4695-A62F-E95C347D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A55ED-7DDF-4CA8-917A-F2AEA8F8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1E578-A3AD-4B6E-9F3E-BE5E558C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Валидация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9E6B7-884A-43AE-9AFF-7AB8216D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385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Backend проверяет тип, размер, payload и выбранный стиль.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BAEEA-81B4-47D9-B02B-34855E9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609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431C7-1417-4ED1-8F7F-4ED637B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8A09A-AAB0-487F-AE4B-81DC0CEF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5CEA2-9341-455F-9542-E4DD55D7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2BB3C-BC30-46EA-891E-B613052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Очередь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1DB83-6878-41FB-99DC-31EAB5AB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В broker mode задача уходит в RabbitMQ и обрабатывается worker.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577A9-2C43-4517-8749-C41B222E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609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16644-B911-4DDB-9205-02784C8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05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AD930-5E47-4BDD-B539-B93C05B2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7B6FD-F5F8-4D7B-A9F8-92C2538C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59030-DF52-474E-A1B9-02CBD85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C1E7F-FA01-402E-9FD4-98E9D92B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PNG доступен через '/api/v1/jobs/{id}/result'.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C3E71-D65A-4FBA-8B3A-475F7F06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6096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81D0F-9456-4140-8DBA-1E228FCF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05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35204-95D7-45C6-9A03-7AB1181E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85203A-7AE8-4CEE-810E-2D35342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704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CCB9C6-EB49-407C-8E44-ACB87FB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1D"/>
                </a:solidFill>
                <a:latin typeface="Aptos"/>
                <a:ea typeface="Aptos"/>
                <a:cs typeface="Aptos"/>
              </a:rPr>
              <a:t>Сохранение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707A2C-D976-416B-BA3F-BCCFDFE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Frontend показывает скачать и share/copy fallback.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1AD7E2-5396-4C78-803E-CB1E0F6C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44E96-9D97-47B7-91E8-44D8C83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Публичная smoke-проверка после финального deploy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AD2AD-7D33-477F-94A5-594BBAC6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902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POST через 'http://prizma.pernyaev.ru/api/v1/jobs' вернул '202 Accepted'; status - 'succeeded'; result endpoint - '200 image/png'.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BE2A96-C605-4940-AF52-1FCD554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85256D-07E1-47D7-A296-FBBA0A98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48939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8C6B5-D8B5-4D22-936D-17AB3A68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CDB70-CAFA-46AC-BF51-F57A1F59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41D07-7377-439B-AD01-FA941C7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A938A-7B01-4F5E-BDC0-01E1368C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569AE-DB8D-497F-ACCB-7853FC0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14A37-6B65-4512-93B1-5FBBEA2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API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EE00-D66F-45E6-892F-D64942C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Backend спроектирован как контрактный сервис, а не как ad-hoc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1B1-C016-4E71-BFBE-3B5A75D5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OpenAPI schema экспортируется из FastAPI и фиксируется в Git; contract test блокирует расхождение схемы и приложения.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12D13-E430-44E7-B25C-997CCE32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EA179-9715-4F14-A67B-5819753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693B7-159B-4E9E-AE58-A18B8720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GET /healthz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GET /readyz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GET /metrics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2EFA1-6075-4E16-81A5-6149306E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86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D94A3-E27B-42E6-89B9-D4543C83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193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Product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213CE-A035-4D11-9B6C-9CBC690A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GET /api/v1/styles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POST /api/v1/jobs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GET /api/v1/jobs/{job_id}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5BA77-204C-4988-BDFE-2947CFC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86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40824-A059-492C-8D56-A687AF8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CE856-266E-41FC-B426-3CF8A5A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255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GET /api/v1/jobs/{job_id}/result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возвращает image/png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7DC59-490C-4773-BF64-AA298354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42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C5FCC-115F-4167-B4F9-2BAB732C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6D9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959FD-D603-4150-84FE-63BF8E31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make contract &amp;&amp; git diff --exit-code docs/api/openapi.json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916E7-2504-4667-B86A-923D38B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005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6D9"/>
                </a:solidFill>
                <a:latin typeface="Aptos"/>
                <a:ea typeface="Aptos"/>
                <a:cs typeface="Aptos"/>
              </a:rPr>
              <a:t>Ожидаемо: exit code 0, diff отсутствует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1DEC2-33FA-4923-895D-498818DC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7BCAF-5896-4DBA-8899-DB704CD5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72725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9CF91-7735-4282-9F44-9D6EA4DD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A3CAB-6D1A-43B8-9088-E195C069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ADC55-BF43-48B2-BEAE-FCFE6BA9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20AAF-C3AB-4071-B211-A4423C07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04410-7738-4581-9F15-BBFB807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05101-C6AF-4F56-934A-B52EFFCB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MLOPS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7A60D-B7FF-4351-9EBF-3529437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Data/model gates делают ML-часть воспроизводимой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3C183-494A-4873-B127-4EE5DF35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Pipeline не просто генерирует модельную карточку: он валидирует датасет, измеряет benchmark, отслеживает drift и формирует release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AE4BE-01D4-4DC0-BFAC-769E639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5B060-40FB-40C1-BEC6-7C814EA8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Golden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99ED9-12A9-4C2F-B847-53E4DE4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21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scripts/mlops/prepare_golden_set.py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E5339-0A3E-4865-BBF7-11F5D394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28950"/>
            <a:ext cx="19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7426A-AC52-4EBA-8F7D-C306929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FF750-8E7D-4495-A3ED-D31933F7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575B1-808F-42E3-B86B-D1F72F8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9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Data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E92E1-B53A-4813-AA97-6181E323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05125"/>
            <a:ext cx="121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reports/mlops/data-validation.json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07B98-DD71-4738-9228-8F8DED9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19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53D0B-24BD-4A02-9E4D-BBCC91ED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2899C-A192-4C2B-B91B-F628EFB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41C7C-BFE6-4E57-8EFB-F874878E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Baseline 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8E2F5-2BED-4720-85A7-07037296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121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models/prizma_stylizer/metadata.json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D5C39-5AD5-4F9C-8429-B0E53CA9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19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B0EC2-379D-4683-946A-34D7278A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8413D-C526-4629-9D19-9CEA184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56341-4C3D-4A5D-93DE-757EBE9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9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0A4A3-0918-4767-9194-002C7FB7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121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reports/mlops/benchmark.json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AC728-449C-4EFE-8C16-A0B5B850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19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C6ABA-49CE-46EF-B42D-5C25AF9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66A03-B3C4-4725-8336-78E434F2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008A2-B482-4CA9-A34E-128C04C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70B15C-71F0-4644-A40C-251A24B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121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reports/mlops/drift.json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3F70A0-52B2-40BD-A246-F3BA275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90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00679-5BD3-4CF1-90AF-3531236B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ED8871-38CD-4681-BF16-D95D09A5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C51C88-678F-4F86-A87F-F8A46745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Model card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A14AE-E93E-4711-8A22-2623E05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05125"/>
            <a:ext cx="1219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docs/mlops/model-card.md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77AE2C-2093-4388-9A09-092AD361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58CA29-FA8E-4A6B-B43E-C9D17A51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Команда проверки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454C0F-3EE5-4FB8-90A8-219A786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31D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4231D"/>
                </a:solidFill>
                <a:latin typeface="Aptos Mono"/>
                <a:ea typeface="Aptos Mono"/>
                <a:cs typeface="Aptos Mono"/>
              </a:rPr>
              <a:t>make mlops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58951F-D64C-4DC9-866D-ABAF0872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Ожидаемо: появляются data-validation, benchmark, drift reports и обновляется model card.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770E0D-0D85-46B4-808B-0E8A203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8F6846-CD59-4DD0-A672-16B7E33F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98451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18064C-2659-4A4C-9673-6A90F54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0ED07-D096-4837-8222-7F046CF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79477-EACE-4441-BFD2-8B96B751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78281-D213-40E3-99F6-461F55F4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6C0B-EBB1-4283-81C5-2612BDC4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35F41-D8F1-4410-9655-C60385C5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0C793-5F03-404A-B4C2-80B8AE4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CI/CD был адаптирован под реальные ограничения GitLab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D5450-724F-45A3-84D7-75526A8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GitLab CI/CD сохранен как артефакт, но рабочий контур был перенесен в GitHub Actions из-за блокировки runners верификацией аккаунта.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E783B-40D1-4838-8ED7-39859260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DE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569CD-77D7-4158-ABCB-AF8BE175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GitLab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E0639-2B15-4818-BFD8-1F43C555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790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.gitlab-ci.yml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подготовлен, но runners недоступны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42B33-F214-4B5E-A2BD-C78F70D8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3810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A1B91-6622-439C-BE05-7EB6A46E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2BD96-5BED-4FE6-BD8F-74BF89A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F544B-9291-4B04-88B5-A429C709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GitHub CI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95DB6-C2E7-4256-AB46-6506903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09875"/>
            <a:ext cx="2076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lint/test/security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MLOps gates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Helm/kube validation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Docker image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E86D0-E5C9-4B6A-B22D-DC429F45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3810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9F998-4C16-457A-A6EF-76BA1391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60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B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7B6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76120-073A-41EA-AB73-B9FF29A6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0DCF4-B34A-425E-B688-1ABD3E9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Deploy VPS Frontend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9508F-1E16-4DA3-A8AB-D6A4A40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2171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SSH deploy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nginx config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compose restart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smoke curl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8483F-A54E-46F5-BFE7-3412DE9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230E5-C12B-4BD0-9844-86D345F1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10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Manual Kubernetes deploy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527CE-9AF5-4C79-903C-42E76F7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5375"/>
            <a:ext cx="2552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Environment secret 'KUBECONFIG_B64', Helm upgrade/install, values per target.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AEB2E-CE5E-44E7-B5FB-6A816EA2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AA25A-01A4-41D7-B994-E1190669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10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GitOps-ready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1B866-8088-46E1-8AFF-663A63F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05375"/>
            <a:ext cx="2552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Argo CD Application manifests для backend и observability.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63B0F-6AF9-4808-BD64-93DCB844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9C8D0-FA53-49F3-9988-C4FA179C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82145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7F17C-F190-4FCA-B509-A9082345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397A6-D34F-4979-BB03-91BFA808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C02E-ECA0-442A-AA47-5048860E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14E2B-E2F6-4907-8F2E-2F8AB63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63C4-6107-409C-A220-6E509BCE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42E21-CE21-4ED7-B124-DB539784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MANAGED KUBERNETES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E4F14-3183-4AB5-80FB-9EE3441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Манифесты подготовлены под managed Kubernetes, даже если MVP живет на VPS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01BD1-D8A3-4B96-990C-4F088098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Helm chart не привязан к одному окружению: есть values для dev/prod/EKS/Reg.Cloud и отдельные observability manifests.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63349-CCB5-47B1-A64B-E1DED96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81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47777-2417-403B-A82A-773BBEB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Workloads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46944-E4EA-4A30-8CE3-0C67E0C1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2076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API Deployment/Rollout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Worker Deployment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Retention CronJob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96A80-A3C0-47E1-AB91-D23EAFD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2381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978F1-0242-4D3F-860B-6106B1D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Platform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68AC4-C7AE-40BC-964A-F8160CFE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33675"/>
            <a:ext cx="2076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MinIO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RabbitMQ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Triton scaffold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Shared state PVC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0E1CD-B00A-41B0-B434-A0D7C2A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2381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C9FF1-6B59-4D25-8EE3-4A6E000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481CA-8461-4415-B2D8-4437816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33675"/>
            <a:ext cx="2076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HPA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ServiceMonitor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ExternalSecret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Ingress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E8856-D3FF-46DF-9F3F-0B07BDB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000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5EB55-66CF-40E7-ABBD-9869AB9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CDF7D-7A0D-4D7C-B364-CC44DCA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33675"/>
            <a:ext cx="1695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kubeconform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strict mode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0 invalid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C2A22-0914-4448-AA0C-F6D22709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D8DE5-D461-447E-902B-D72A89A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make kube-validate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7F057-EE8D-4BA3-8C39-3A8B5E2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CE6D9"/>
                </a:solidFill>
                <a:latin typeface="Aptos"/>
                <a:ea typeface="Aptos"/>
                <a:cs typeface="Aptos"/>
              </a:rPr>
              <a:t>112 resources found / Valid: 97 / Invalid: 0 / Errors: 0 / Skipped: 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AE35A-B13E-44AA-BC17-D0FB8B1A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F1C59-47FB-43E5-BC62-E4C02DF8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29305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1294A-B548-4A5B-8742-5C1572E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5CA8A-1285-4E99-957E-AE0132A2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9B7BB-AC80-4AAB-AC2F-8950B03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CB851-7041-4048-B7FA-48F1029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sre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1A699-B531-43C4-8896-2AA1EB2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A0BAC-3EE3-4ADA-8F67-63C415A1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SRE / SLA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8102-F93D-4902-9505-AE55FA6A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SLO и бюджет ошибок оформлены как эксплуатационный контракт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91F70-315D-4F9E-B8DA-57CDA8DE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B6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7B63"/>
                </a:solidFill>
                <a:latin typeface="Aptos Display"/>
                <a:ea typeface="Aptos Display"/>
                <a:cs typeface="Aptos Display"/>
              </a:rPr>
              <a:t>99,9%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C8AD1-746B-4237-843F-A5857320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внутренняя цель доступности API за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C7A9-18A9-4040-965B-64B1D802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6B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66B47"/>
                </a:solidFill>
                <a:latin typeface="Aptos Display"/>
                <a:ea typeface="Aptos Display"/>
                <a:cs typeface="Aptos Display"/>
              </a:rPr>
              <a:t>43 мин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0C3B6-BA6C-428B-90A6-AA46577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месячный бюджет ошибок при 99,9%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BDCF4-68F4-4337-9852-FACB6173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A23A"/>
                </a:solidFill>
                <a:latin typeface="Aptos Display"/>
                <a:ea typeface="Aptos Display"/>
                <a:cs typeface="Aptos Display"/>
              </a:rPr>
              <a:t>10 мин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9D085-2AC6-4CEA-8847-727F4459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alert window для SLO-событий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7C860-64A4-4001-A7D3-D2E0C41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C7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15C7C"/>
                </a:solidFill>
                <a:latin typeface="Aptos Display"/>
                <a:ea typeface="Aptos Display"/>
                <a:cs typeface="Aptos Display"/>
              </a:rPr>
              <a:t>15 мин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5EFF8-6150-4060-805A-F0B16C3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целевое rollback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4BD96-D4B9-4345-B435-B62603F0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B8E8C-97DA-4A31-AE01-E311F0BC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SLI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382AE-2B40-476C-8552-B927095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5xx rate, p95 job creation latency, p95 processing duration, job failure rate, active jobs.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B5E90-A07D-4F7F-902C-FC06DC5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385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BA290-59EB-4E76-A136-83ADDE31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Prometheus alerts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BE07B-B948-421A-92AD-72955E6B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PrizmaHighErrorRate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PrizmaHighP95Latency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PrizmaHighJobFailureRate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PrizmaJobsStuck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1BD0D-6713-4828-89A0-92965CE7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B708A-ED92-4B42-A212-C249D9A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SLA позиция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95249-4A55-48BB-87C2-E8FA0635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67125"/>
            <a:ext cx="2647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Для MVP публичный коммерческий SLA не заявлен; внутренний ориентир описан в 'docs/sre/slo.md'.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65593-F97B-47ED-911B-A9A849F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ABC5C-CB71-46CB-8872-0AA1EE7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90620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1771A-B846-48D9-9C53-1D06870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820F7-0361-4C1F-950B-BF0D8268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7AFC3-1074-4870-9873-3CFFF1E1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07320-DBE0-4BE7-BE29-16D1739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10CC5-28D3-406B-831D-77DF4C25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AAA28-0656-4DB7-9096-48759764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SECURITY &amp; RELIABILITY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A64BF-35BF-4A91-8F17-2EAE415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Защита проекта строится на gates, а не на ручной уверенности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7CB33-BF3D-485A-9990-DD515A61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Security и reliability artifacts привязаны к pipeline: если проверка падает, продвижение останавливается.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FDB93-F403-4359-94B1-BB579C42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2E76B-C43A-4B88-8C7C-4241E105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Upload hardening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0121A-31F5-4AEC-B6DF-4465A2E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2171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Content type, max bytes, invalid image payload rejection, client-side resize для больших файлов.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5FC6F-1315-4241-AEC2-25395BB0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D7E74-93E2-4808-A5EA-0DBCF0D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Security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A2267-72F2-43D8-912D-DE6837B6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2171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pip-audit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Bandit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secret detection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Docker image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98D53-5977-4450-AF05-174F6E5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7C8E4-0040-4B57-99DD-400153CC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Runtime secrets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6A75B-4F55-44A6-BFAC-5BF9FEAA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21717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Kubernetes Secret, existingSecret или ExternalSecret; production не хранит секреты в chart.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02CCD-B7C4-47C0-A1AF-51DE0F96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050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E10D0-F0BA-4B0B-9759-8AF57E47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8D3882-45D8-45C2-8293-E988EDFE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33675"/>
            <a:ext cx="16954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rollback runbook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incident response</a:t>
            </a:r>
          </a:p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retraining runbook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021C8-FBA1-4238-AF89-92020637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34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757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76E84-B03F-42FA-ABA0-C0C6CAE0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make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0CA7A-D446-4572-BCFB-E1F9C46B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E6D9"/>
                </a:solidFill>
                <a:latin typeface="Aptos"/>
                <a:ea typeface="Aptos"/>
                <a:cs typeface="Aptos"/>
              </a:rPr>
              <a:t>Ожидаемо: No known vulnerabilities found / Bandit без findings / No secrets detected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E8802-CA56-48F3-9F08-903EA5D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1E930-5967-46CA-8D77-8FB0B431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66881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64987-4C8B-4733-80AD-C59EFC5B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7B6DD-9698-40D9-A428-DB4E92A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B74E7-47B7-419B-A775-440B054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F0F18-DCE9-442F-B2D8-CA5BA57D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отладка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F84B5-89D9-4957-906C-103FF1D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83C2F-0294-4C4F-8674-8D72AC8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DEBUGGING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641D8-7492-46FC-B35D-411DB638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Основная инженерная работа была в связке DNS, SSH, Docker и Tunnel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5B24A-9372-45DD-8C66-DA4FD38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Проблемы и решения зафиксированы в Word-отчете как часть процесса защиты: не только итог, но и путь отладки.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2F3B2-042D-48AC-943D-E4FF4E56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C2235-F40C-4F69-A766-F5CD8602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DNS/IP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56C2B-381A-4999-A3D3-49752E4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57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75010-2235-4718-B403-4C550AD9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479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выявлен реальный public IP VPS</a:t>
            </a:r>
          </a:p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и проверены DNS-записи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63BC2-F8AD-465B-B39F-37E4EC45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491D7-1849-49B6-9696-6D419F91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SSH/SCP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32BE6-EAE2-43B2-A624-AE21E64A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8ED42-29A9-4520-BCE5-28828E92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14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отделен локальный Mac от remote shell,</a:t>
            </a:r>
          </a:p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создан deploy key без passphrase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CF1BF-97AE-4998-A071-62F40880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26558-9FD2-47B9-9169-2091656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E48BB-B8F9-47B1-8A1E-BC614CCD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B67EF-4FA3-428E-8526-6C8B7E7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workflow стал portable:</a:t>
            </a:r>
          </a:p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'docker compose' или 'docker-compose'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9D2EE-E9CD-4869-9CA0-68FA671E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485B7-5DC1-40DF-BD0F-EBF3E3FC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0326C-7190-415C-BC1D-8DF546C8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0164F-2005-46EB-BC59-06C78383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Tunnel нужен только для backend на Mac,</a:t>
            </a:r>
          </a:p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VPS nginx проксирует '/api/*'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D7BF5-197E-465F-B51A-73A72B4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123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7A977-7698-466C-91FB-11B0A4EF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502/cache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5FE1A-53C2-476D-B91E-A014FFBF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F76C8-582B-428D-9921-A6CB01D2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149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добавлены timeouts/buffering settings</a:t>
            </a:r>
          </a:p>
          <a:p xmlns:a="http://schemas.openxmlformats.org/drawingml/2006/main">
            <a:pPr algn="l">
              <a:defRPr sz="135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и 'Cache-Control: no-cache'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D5BA6C-8B0D-49A1-9614-262F4E5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Текущий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23511-C256-4766-B928-CC028B4E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Фронт отдает 200</a:t>
            </a:r>
          </a:p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API styles 200</a:t>
            </a:r>
          </a:p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POST job 202</a:t>
            </a:r>
          </a:p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status succeeded</a:t>
            </a:r>
          </a:p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result image/png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95D73-EEE4-44DB-A3C5-FD97506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E29BA4-1441-4328-9AF3-FB00BD7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87959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9BBFF-2D0C-4AEB-9B3C-E093B2BC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BC4EC-824D-484B-B896-E24FA81D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42A3A-A394-4A1E-A06E-E6D55E0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2F509-F46A-4AE8-B990-B77C730B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FD5B1-689F-41B1-8749-2C6D55C3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C3E04-3F0F-4A36-BDBC-31A1B4CE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B63B6-D301-4C46-8DB0-4771F3A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Остаточный долг вынесен в roadmap, а не скрыт в презентации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6315D-7AC8-42CF-B30A-32522869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17BB0-D4D8-4548-8AC2-A07414B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1. Managed Kubernetes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8A1C4-8311-462C-9099-F5D9A829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Подключить реальный кластер, KUBECONFIG_B64, Helm deploy и Argo CD sync.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E31BB-B4EB-439B-8059-2FA1DB84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F7B3F-5CB9-4027-AA10-AACC3AF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2. Production GPU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2042E-F036-45B5-9CC2-B2FDA35E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81275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Заменить Triton scaffold на реальную модель и включить GPU metrics/capacity.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659DE-E778-46A0-B880-AD0D1ED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7C896-F7B5-4B9B-87EC-0EBBE304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3. MLflow registry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C8263-953F-4663-9D59-8B3BFA20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81275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Поднять tracking server, registry stage и promotion approval для моделей.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E947B-44E7-4E04-9851-229ECA9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190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D5E06-86E8-46A0-8FCA-44BEF960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4. CDN/mobile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6E601-6629-4A32-B29A-0C069F96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81275"/>
            <a:ext cx="1885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Отдельный CDN для result files; решить, нужен ли native mobile вместо PWA.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21FFF-BACB-4E3F-9A7A-2E41D555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248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D"/>
          </a:solidFill>
          <a:ln xmlns:a="http://schemas.openxmlformats.org/drawingml/2006/main" w="0">
            <a:solidFill>
              <a:srgbClr val="14231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4E5DB-EEA9-4014-B1B2-BF98676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6D9"/>
                </a:solidFill>
                <a:latin typeface="Aptos"/>
                <a:ea typeface="Aptos"/>
                <a:cs typeface="Aptos"/>
              </a:rPr>
              <a:t>Принцип защиты roadmap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530F6-B7DD-47EA-BB68-0F1DF749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672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Все внешние зависимости явно отделены от того, что уже реализовано и проверяется автоматически.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2385C-59F3-4F3C-93BD-8E819DC3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59AB3-1B35-44FD-B8B8-3BDF929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558999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F845F-85FF-443D-99E5-CCC3779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3BF25-31D6-47A7-93D1-9ECC1F6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5D432-8F54-43D8-8B2A-AA5FAC27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08AF2-FFB1-41C8-BDEE-5805C670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46B"/>
                </a:solidFill>
                <a:latin typeface="Aptos"/>
                <a:ea typeface="Aptos"/>
                <a:cs typeface="Aptos"/>
              </a:rPr>
              <a:t>защита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BDFE-5937-4DB1-BECF-BE2EEFDE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F3E89-081F-4C98-AD3D-E8565DEC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GROUP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5E0CC-E851-42C6-9027-940FA37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31D"/>
                </a:solidFill>
                <a:latin typeface="Aptos Display"/>
                <a:ea typeface="Aptos Display"/>
                <a:cs typeface="Aptos Display"/>
              </a:rPr>
              <a:t>Командная защита должна показывать роли, evidence и live-проверку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BE946-39EA-4B2C-95FA-4E0B2FC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ФИО можно вписать перед сдачей. Логика защиты уже разделена по ролям, чтобы каждый участник отвечал за конкретный контур.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52AAF-F3D9-4BA8-A7B2-ADEDE733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FF1FD-CB87-44FD-AC2A-5B0F4E9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Product / 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F11F9-AC1E-4660-A0AE-82B01B57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198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Сценарий пользователя, PWA-like UX, download/share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9A031-9E3D-4517-801A-CB7C094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479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42B9B-9A10-431B-9409-34A67139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Backend /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C0A9E-EB75-4801-A3B7-A654AAF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76525"/>
            <a:ext cx="198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FastAPI contract, jobs lifecycle, validation, result endpoint.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EBEA1-70B1-4769-9AB6-EF7B73F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C629C-7662-4CB4-875A-DECF12C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MLOps / 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A8106-5AF0-4118-AE59-E39CCEEB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198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DVC-style pipeline, data validation, benchmark, drift, model card.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F70E0-0E02-4D52-B117-86BD42F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CAD5C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F6114-3007-4A87-A502-0A59E473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DevOps / SRE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06455-68C0-4B55-8D10-10164738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76525"/>
            <a:ext cx="1981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3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31D"/>
                </a:solidFill>
                <a:latin typeface="Aptos"/>
                <a:ea typeface="Aptos"/>
                <a:cs typeface="Aptos"/>
              </a:rPr>
              <a:t>CI/CD, VPS deploy, Kubernetes, Prometheus/Grafana, SLO.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8221F-66C0-4CF0-9FEF-68E7EE0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969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43"/>
          </a:solidFill>
          <a:ln xmlns:a="http://schemas.openxmlformats.org/drawingml/2006/main" w="0">
            <a:solidFill>
              <a:srgbClr val="0757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5C845-5332-4340-9525-DAB55FBC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86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6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6D9"/>
                </a:solidFill>
                <a:latin typeface="Aptos"/>
                <a:ea typeface="Aptos"/>
                <a:cs typeface="Aptos"/>
              </a:rPr>
              <a:t>Финальный тезис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C540A-2F2F-4EE1-90E3-20AFCB10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Prizma - это не только демо стилизации, а воспроизводимый production-oriented baseline с проверяемыми инженерными артефактами.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47B02-2182-4BF4-8199-F3BF3004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57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46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46B"/>
                </a:solidFill>
                <a:latin typeface="Aptos"/>
                <a:ea typeface="Aptos"/>
                <a:cs typeface="Aptos"/>
              </a:rPr>
              <a:t>Prizma / групповая академическая работа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CB807-915D-41F7-B860-BBB9F2CB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198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757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574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36141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2026-06-03T12:24:55.7540000Z</dcterms:created>
  <dcterms:modified xsi:type="dcterms:W3CDTF">2026-06-03T12:24:55.7540000Z</dcterms:modified>
</coreProperties>
</file>